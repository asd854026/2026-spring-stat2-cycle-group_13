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0" d="100"/>
          <a:sy n="110" d="100"/>
        </p:scale>
        <p:origin x="59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82410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5404"/>
            <a:ext cx="8961120" cy="384048"/>
          </a:xfrm>
          <a:prstGeom prst="rect">
            <a:avLst/>
          </a:prstGeom>
          <a:noFill/>
          <a:ln/>
        </p:spPr>
        <p:txBody>
          <a:bodyPr wrap="square" lIns="0" tIns="0" rIns="0" bIns="0" rtlCol="0" anchor="ctr"/>
          <a:lstStyle/>
          <a:p>
            <a:pPr marL="0" indent="0">
              <a:buNone/>
            </a:pPr>
            <a:r>
              <a:rPr lang="en-US" sz="2200" b="1" dirty="0">
                <a:solidFill>
                  <a:srgbClr val="102A43"/>
                </a:solidFill>
                <a:latin typeface="Aptos Display" pitchFamily="34" charset="0"/>
                <a:ea typeface="Aptos Display" pitchFamily="34" charset="-122"/>
                <a:cs typeface="Aptos Display" pitchFamily="34" charset="-120"/>
              </a:rPr>
              <a:t>Age and Diabetes Prevalence in Balanced Age Groups</a:t>
            </a:r>
            <a:endParaRPr lang="en-US" sz="2200" dirty="0"/>
          </a:p>
        </p:txBody>
      </p:sp>
      <p:sp>
        <p:nvSpPr>
          <p:cNvPr id="4" name="Shape 2"/>
          <p:cNvSpPr/>
          <p:nvPr/>
        </p:nvSpPr>
        <p:spPr>
          <a:xfrm>
            <a:off x="530352" y="969264"/>
            <a:ext cx="11109960" cy="0"/>
          </a:xfrm>
          <a:prstGeom prst="line">
            <a:avLst/>
          </a:prstGeom>
          <a:noFill/>
          <a:ln w="15240">
            <a:solidFill>
              <a:srgbClr val="C9D3DE"/>
            </a:solidFill>
            <a:prstDash val="solid"/>
          </a:ln>
        </p:spPr>
      </p:sp>
      <p:sp>
        <p:nvSpPr>
          <p:cNvPr id="5" name="Text 3"/>
          <p:cNvSpPr/>
          <p:nvPr/>
        </p:nvSpPr>
        <p:spPr>
          <a:xfrm>
            <a:off x="566928" y="1078992"/>
            <a:ext cx="3474720" cy="182880"/>
          </a:xfrm>
          <a:prstGeom prst="rect">
            <a:avLst/>
          </a:prstGeom>
          <a:noFill/>
          <a:ln/>
        </p:spPr>
        <p:txBody>
          <a:bodyPr wrap="square" lIns="0" tIns="0" rIns="0" bIns="0" rtlCol="0" anchor="ctr"/>
          <a:lstStyle/>
          <a:p>
            <a:pPr marL="0" indent="0">
              <a:buNone/>
            </a:pPr>
            <a:r>
              <a:rPr lang="en-US" sz="1020" b="1" dirty="0">
                <a:solidFill>
                  <a:srgbClr val="334E68"/>
                </a:solidFill>
                <a:latin typeface="Aptos" pitchFamily="34" charset="0"/>
                <a:ea typeface="Aptos" pitchFamily="34" charset="-122"/>
                <a:cs typeface="Aptos" pitchFamily="34" charset="-120"/>
              </a:rPr>
              <a:t>Table 1. Balanced age-group summary</a:t>
            </a:r>
            <a:endParaRPr lang="en-US" sz="1020" dirty="0"/>
          </a:p>
        </p:txBody>
      </p:sp>
      <p:pic>
        <p:nvPicPr>
          <p:cNvPr id="6" name="Image 0" descr="/mnt/data/table_crop.png"/>
          <p:cNvPicPr>
            <a:picLocks noChangeAspect="1"/>
          </p:cNvPicPr>
          <p:nvPr/>
        </p:nvPicPr>
        <p:blipFill>
          <a:blip r:embed="rId3"/>
          <a:stretch>
            <a:fillRect/>
          </a:stretch>
        </p:blipFill>
        <p:spPr>
          <a:xfrm>
            <a:off x="1430359" y="1298448"/>
            <a:ext cx="4079579" cy="868680"/>
          </a:xfrm>
          <a:prstGeom prst="rect">
            <a:avLst/>
          </a:prstGeom>
        </p:spPr>
      </p:pic>
      <p:sp>
        <p:nvSpPr>
          <p:cNvPr id="7" name="Text 4"/>
          <p:cNvSpPr/>
          <p:nvPr/>
        </p:nvSpPr>
        <p:spPr>
          <a:xfrm>
            <a:off x="566928" y="2359152"/>
            <a:ext cx="3931920" cy="182880"/>
          </a:xfrm>
          <a:prstGeom prst="rect">
            <a:avLst/>
          </a:prstGeom>
          <a:noFill/>
          <a:ln/>
        </p:spPr>
        <p:txBody>
          <a:bodyPr wrap="square" lIns="0" tIns="0" rIns="0" bIns="0" rtlCol="0" anchor="ctr"/>
          <a:lstStyle/>
          <a:p>
            <a:pPr marL="0" indent="0">
              <a:buNone/>
            </a:pPr>
            <a:r>
              <a:rPr lang="en-US" sz="1020" b="1" dirty="0">
                <a:solidFill>
                  <a:srgbClr val="334E68"/>
                </a:solidFill>
                <a:latin typeface="Aptos" pitchFamily="34" charset="0"/>
                <a:ea typeface="Aptos" pitchFamily="34" charset="-122"/>
                <a:cs typeface="Aptos" pitchFamily="34" charset="-120"/>
              </a:rPr>
              <a:t>Figure 1. Diabetes rate by balanced age groups</a:t>
            </a:r>
            <a:endParaRPr lang="en-US" sz="1020" dirty="0"/>
          </a:p>
        </p:txBody>
      </p:sp>
      <p:pic>
        <p:nvPicPr>
          <p:cNvPr id="8" name="Image 1" descr="/mnt/data/bar_chart_crop.png"/>
          <p:cNvPicPr>
            <a:picLocks noChangeAspect="1"/>
          </p:cNvPicPr>
          <p:nvPr/>
        </p:nvPicPr>
        <p:blipFill>
          <a:blip r:embed="rId4"/>
          <a:stretch>
            <a:fillRect/>
          </a:stretch>
        </p:blipFill>
        <p:spPr>
          <a:xfrm>
            <a:off x="876417" y="2578608"/>
            <a:ext cx="5278902" cy="3611880"/>
          </a:xfrm>
          <a:prstGeom prst="rect">
            <a:avLst/>
          </a:prstGeom>
        </p:spPr>
      </p:pic>
      <p:sp>
        <p:nvSpPr>
          <p:cNvPr id="10" name="Text 6"/>
          <p:cNvSpPr/>
          <p:nvPr/>
        </p:nvSpPr>
        <p:spPr>
          <a:xfrm>
            <a:off x="6903720" y="1097280"/>
            <a:ext cx="1097280" cy="201168"/>
          </a:xfrm>
          <a:prstGeom prst="rect">
            <a:avLst/>
          </a:prstGeom>
          <a:noFill/>
          <a:ln/>
        </p:spPr>
        <p:txBody>
          <a:bodyPr wrap="square" lIns="0" tIns="0" rIns="0" bIns="0" rtlCol="0" anchor="ctr"/>
          <a:lstStyle/>
          <a:p>
            <a:pPr marL="0" indent="0">
              <a:buNone/>
            </a:pPr>
            <a:r>
              <a:rPr lang="en-US" sz="1500" b="1" dirty="0">
                <a:solidFill>
                  <a:srgbClr val="1F5AA6"/>
                </a:solidFill>
                <a:latin typeface="Aptos Display" pitchFamily="34" charset="0"/>
                <a:ea typeface="Aptos Display" pitchFamily="34" charset="-122"/>
                <a:cs typeface="Aptos Display" pitchFamily="34" charset="-120"/>
              </a:rPr>
              <a:t>Design</a:t>
            </a:r>
            <a:endParaRPr lang="en-US" sz="1500" dirty="0"/>
          </a:p>
        </p:txBody>
      </p:sp>
      <p:sp>
        <p:nvSpPr>
          <p:cNvPr id="11" name="Text 7"/>
          <p:cNvSpPr/>
          <p:nvPr/>
        </p:nvSpPr>
        <p:spPr>
          <a:xfrm>
            <a:off x="6903720" y="1422984"/>
            <a:ext cx="4709160" cy="567793"/>
          </a:xfrm>
          <a:prstGeom prst="rect">
            <a:avLst/>
          </a:prstGeom>
          <a:noFill/>
          <a:ln/>
        </p:spPr>
        <p:txBody>
          <a:bodyPr wrap="square" lIns="127" tIns="127" rIns="127" bIns="127" rtlCol="0" anchor="t"/>
          <a:lstStyle/>
          <a:p>
            <a:pPr marL="0" indent="0" algn="just">
              <a:buNone/>
            </a:pPr>
            <a:r>
              <a:rPr lang="en-US" sz="1120" dirty="0">
                <a:solidFill>
                  <a:srgbClr val="243B53"/>
                </a:solidFill>
                <a:latin typeface="Aptos" pitchFamily="34" charset="0"/>
                <a:ea typeface="Aptos" pitchFamily="34" charset="-122"/>
                <a:cs typeface="Aptos" pitchFamily="34" charset="-120"/>
              </a:rPr>
              <a:t>Age was divided into four quantile-based groups so that each group contained a similar sample size. Younger observations were more concentrated, whereas older observations were more dispersed</a:t>
            </a:r>
            <a:r>
              <a:rPr lang="en-US" altLang="zh-TW" sz="1120" dirty="0">
                <a:solidFill>
                  <a:srgbClr val="243B53"/>
                </a:solidFill>
                <a:latin typeface="Aptos" pitchFamily="34" charset="0"/>
                <a:ea typeface="Aptos" pitchFamily="34" charset="-122"/>
                <a:cs typeface="Aptos" pitchFamily="34" charset="-120"/>
              </a:rPr>
              <a:t>.</a:t>
            </a:r>
            <a:endParaRPr lang="en-US" sz="1120" dirty="0"/>
          </a:p>
        </p:txBody>
      </p:sp>
      <p:sp>
        <p:nvSpPr>
          <p:cNvPr id="12" name="Text 8"/>
          <p:cNvSpPr/>
          <p:nvPr/>
        </p:nvSpPr>
        <p:spPr>
          <a:xfrm>
            <a:off x="6903720" y="2024742"/>
            <a:ext cx="1554480" cy="201168"/>
          </a:xfrm>
          <a:prstGeom prst="rect">
            <a:avLst/>
          </a:prstGeom>
          <a:noFill/>
          <a:ln/>
        </p:spPr>
        <p:txBody>
          <a:bodyPr wrap="square" lIns="0" tIns="0" rIns="0" bIns="0" rtlCol="0" anchor="ctr"/>
          <a:lstStyle/>
          <a:p>
            <a:pPr marL="0" indent="0">
              <a:buNone/>
            </a:pPr>
            <a:r>
              <a:rPr lang="en-US" sz="1500" b="1" dirty="0">
                <a:solidFill>
                  <a:srgbClr val="1F5AA6"/>
                </a:solidFill>
                <a:latin typeface="Aptos Display" pitchFamily="34" charset="0"/>
                <a:ea typeface="Aptos Display" pitchFamily="34" charset="-122"/>
                <a:cs typeface="Aptos Display" pitchFamily="34" charset="-120"/>
              </a:rPr>
              <a:t>Computation</a:t>
            </a:r>
            <a:endParaRPr lang="en-US" sz="1500" dirty="0"/>
          </a:p>
        </p:txBody>
      </p:sp>
      <p:sp>
        <p:nvSpPr>
          <p:cNvPr id="13" name="Text 9"/>
          <p:cNvSpPr/>
          <p:nvPr/>
        </p:nvSpPr>
        <p:spPr>
          <a:xfrm>
            <a:off x="6903720" y="2341734"/>
            <a:ext cx="4709160" cy="868680"/>
          </a:xfrm>
          <a:prstGeom prst="rect">
            <a:avLst/>
          </a:prstGeom>
          <a:noFill/>
          <a:ln/>
        </p:spPr>
        <p:txBody>
          <a:bodyPr wrap="square" lIns="127" tIns="127" rIns="127" bIns="127" rtlCol="0" anchor="t"/>
          <a:lstStyle/>
          <a:p>
            <a:pPr marL="0" indent="0" algn="just">
              <a:buNone/>
            </a:pPr>
            <a:r>
              <a:rPr lang="en-US" sz="1120" dirty="0">
                <a:solidFill>
                  <a:srgbClr val="243B53"/>
                </a:solidFill>
                <a:latin typeface="Aptos" pitchFamily="34" charset="0"/>
                <a:ea typeface="Aptos" pitchFamily="34" charset="-122"/>
                <a:cs typeface="Aptos" pitchFamily="34" charset="-120"/>
              </a:rPr>
              <a:t>For each group, the mean of Outcome was interpreted as the diabetes rate. Standard errors were computed for each proportion, and approximate bounds were displayed using plus or minus two standard errors. No observations were recorded below age 20.</a:t>
            </a:r>
            <a:endParaRPr lang="en-US" sz="1120" dirty="0"/>
          </a:p>
        </p:txBody>
      </p:sp>
      <p:sp>
        <p:nvSpPr>
          <p:cNvPr id="14" name="Shape 10"/>
          <p:cNvSpPr/>
          <p:nvPr/>
        </p:nvSpPr>
        <p:spPr>
          <a:xfrm>
            <a:off x="6858000" y="3191685"/>
            <a:ext cx="4800600" cy="914400"/>
          </a:xfrm>
          <a:prstGeom prst="roundRect">
            <a:avLst>
              <a:gd name="adj" fmla="val 6000"/>
            </a:avLst>
          </a:prstGeom>
          <a:solidFill>
            <a:srgbClr val="F7FAFC"/>
          </a:solidFill>
          <a:ln w="12700">
            <a:solidFill>
              <a:srgbClr val="D9E2EC"/>
            </a:solidFill>
            <a:prstDash val="solid"/>
          </a:ln>
        </p:spPr>
      </p:sp>
      <p:grpSp>
        <p:nvGrpSpPr>
          <p:cNvPr id="22" name="群組 21">
            <a:extLst>
              <a:ext uri="{FF2B5EF4-FFF2-40B4-BE49-F238E27FC236}">
                <a16:creationId xmlns:a16="http://schemas.microsoft.com/office/drawing/2014/main" id="{CAB6C28E-199B-3DEA-FE54-A31D9E7FF578}"/>
              </a:ext>
            </a:extLst>
          </p:cNvPr>
          <p:cNvGrpSpPr/>
          <p:nvPr/>
        </p:nvGrpSpPr>
        <p:grpSpPr>
          <a:xfrm>
            <a:off x="7059168" y="3233481"/>
            <a:ext cx="4389120" cy="753732"/>
            <a:chOff x="7059168" y="3790836"/>
            <a:chExt cx="4389120" cy="753732"/>
          </a:xfrm>
        </p:grpSpPr>
        <p:sp>
          <p:nvSpPr>
            <p:cNvPr id="15" name="Text 11"/>
            <p:cNvSpPr/>
            <p:nvPr/>
          </p:nvSpPr>
          <p:spPr>
            <a:xfrm>
              <a:off x="7059168" y="3790836"/>
              <a:ext cx="1280160" cy="182880"/>
            </a:xfrm>
            <a:prstGeom prst="rect">
              <a:avLst/>
            </a:prstGeom>
            <a:noFill/>
            <a:ln/>
          </p:spPr>
          <p:txBody>
            <a:bodyPr wrap="square" lIns="0" tIns="0" rIns="0" bIns="0" rtlCol="0" anchor="ctr"/>
            <a:lstStyle/>
            <a:p>
              <a:pPr marL="0" indent="0">
                <a:buNone/>
              </a:pPr>
              <a:r>
                <a:rPr lang="en-US" sz="1050" b="1" dirty="0">
                  <a:solidFill>
                    <a:srgbClr val="52667A"/>
                  </a:solidFill>
                  <a:latin typeface="Aptos" pitchFamily="34" charset="0"/>
                  <a:ea typeface="Aptos" pitchFamily="34" charset="-122"/>
                  <a:cs typeface="Aptos" pitchFamily="34" charset="-120"/>
                </a:rPr>
                <a:t>Key result</a:t>
              </a:r>
              <a:endParaRPr lang="en-US" sz="1050" dirty="0"/>
            </a:p>
          </p:txBody>
        </p:sp>
        <p:sp>
          <p:nvSpPr>
            <p:cNvPr id="16" name="Text 12"/>
            <p:cNvSpPr/>
            <p:nvPr/>
          </p:nvSpPr>
          <p:spPr>
            <a:xfrm>
              <a:off x="7059168" y="4000281"/>
              <a:ext cx="4251960" cy="256032"/>
            </a:xfrm>
            <a:prstGeom prst="rect">
              <a:avLst/>
            </a:prstGeom>
            <a:noFill/>
            <a:ln/>
          </p:spPr>
          <p:txBody>
            <a:bodyPr wrap="square" lIns="0" tIns="0" rIns="0" bIns="0" rtlCol="0" anchor="ctr"/>
            <a:lstStyle/>
            <a:p>
              <a:pPr marL="0" indent="0">
                <a:buNone/>
              </a:pPr>
              <a:r>
                <a:rPr lang="en-US" sz="1800" b="1" dirty="0">
                  <a:solidFill>
                    <a:srgbClr val="8A4B08"/>
                  </a:solidFill>
                  <a:latin typeface="Aptos Display" pitchFamily="34" charset="0"/>
                  <a:ea typeface="Aptos Display" pitchFamily="34" charset="-122"/>
                  <a:cs typeface="Aptos Display" pitchFamily="34" charset="-120"/>
                </a:rPr>
                <a:t>14.2% → 29.9% → 47.5% → 51.7%</a:t>
              </a:r>
              <a:endParaRPr lang="en-US" sz="1800" dirty="0"/>
            </a:p>
          </p:txBody>
        </p:sp>
        <p:sp>
          <p:nvSpPr>
            <p:cNvPr id="17" name="Text 13"/>
            <p:cNvSpPr/>
            <p:nvPr/>
          </p:nvSpPr>
          <p:spPr>
            <a:xfrm>
              <a:off x="7059168" y="4343400"/>
              <a:ext cx="4389120" cy="201168"/>
            </a:xfrm>
            <a:prstGeom prst="rect">
              <a:avLst/>
            </a:prstGeom>
            <a:noFill/>
            <a:ln/>
          </p:spPr>
          <p:txBody>
            <a:bodyPr wrap="square" lIns="0" tIns="0" rIns="0" bIns="0" rtlCol="0" anchor="ctr"/>
            <a:lstStyle/>
            <a:p>
              <a:pPr marL="0" indent="0" algn="just">
                <a:buNone/>
              </a:pPr>
              <a:r>
                <a:rPr lang="en-US" sz="1050" dirty="0">
                  <a:solidFill>
                    <a:srgbClr val="243B53"/>
                  </a:solidFill>
                  <a:latin typeface="Aptos" pitchFamily="34" charset="0"/>
                  <a:ea typeface="Aptos" pitchFamily="34" charset="-122"/>
                  <a:cs typeface="Aptos" pitchFamily="34" charset="-120"/>
                </a:rPr>
                <a:t>The increasing pattern suggests that diabetes prevalence tends to rise with age in this dataset.</a:t>
              </a:r>
              <a:endParaRPr lang="en-US" sz="1050" dirty="0"/>
            </a:p>
          </p:txBody>
        </p:sp>
      </p:grpSp>
      <p:sp>
        <p:nvSpPr>
          <p:cNvPr id="18" name="Text 14"/>
          <p:cNvSpPr/>
          <p:nvPr/>
        </p:nvSpPr>
        <p:spPr>
          <a:xfrm>
            <a:off x="6903720" y="4244556"/>
            <a:ext cx="1737360" cy="201168"/>
          </a:xfrm>
          <a:prstGeom prst="rect">
            <a:avLst/>
          </a:prstGeom>
          <a:noFill/>
          <a:ln/>
        </p:spPr>
        <p:txBody>
          <a:bodyPr wrap="square" lIns="0" tIns="0" rIns="0" bIns="0" rtlCol="0" anchor="ctr"/>
          <a:lstStyle/>
          <a:p>
            <a:pPr marL="0" indent="0">
              <a:buNone/>
            </a:pPr>
            <a:r>
              <a:rPr lang="en-US" sz="1500" b="1" dirty="0">
                <a:solidFill>
                  <a:srgbClr val="1F5AA6"/>
                </a:solidFill>
                <a:latin typeface="Aptos Display" pitchFamily="34" charset="0"/>
                <a:ea typeface="Aptos Display" pitchFamily="34" charset="-122"/>
                <a:cs typeface="Aptos Display" pitchFamily="34" charset="-120"/>
              </a:rPr>
              <a:t>Interpretation</a:t>
            </a:r>
            <a:endParaRPr lang="en-US" sz="1500" dirty="0"/>
          </a:p>
        </p:txBody>
      </p:sp>
      <p:sp>
        <p:nvSpPr>
          <p:cNvPr id="19" name="Text 15"/>
          <p:cNvSpPr/>
          <p:nvPr/>
        </p:nvSpPr>
        <p:spPr>
          <a:xfrm>
            <a:off x="6903720" y="4500587"/>
            <a:ext cx="1935480" cy="1827917"/>
          </a:xfrm>
          <a:prstGeom prst="rect">
            <a:avLst/>
          </a:prstGeom>
          <a:noFill/>
          <a:ln/>
        </p:spPr>
        <p:txBody>
          <a:bodyPr wrap="square" lIns="127" tIns="127" rIns="127" bIns="127" rtlCol="0" anchor="t"/>
          <a:lstStyle/>
          <a:p>
            <a:pPr marL="0" indent="0" algn="just">
              <a:buNone/>
            </a:pPr>
            <a:r>
              <a:rPr lang="en-US" sz="1120" dirty="0">
                <a:solidFill>
                  <a:srgbClr val="243B53"/>
                </a:solidFill>
                <a:latin typeface="Aptos" pitchFamily="34" charset="0"/>
                <a:ea typeface="Aptos" pitchFamily="34" charset="-122"/>
                <a:cs typeface="Aptos" pitchFamily="34" charset="-120"/>
              </a:rPr>
              <a:t>Because the group sizes were relatively balanced and the standard errors were fairly small, the upward pattern is unlikely to be explained only by unstable grouping. Within the observed sample, Age appears to be an informative variable for understanding diabetes prevalence.</a:t>
            </a:r>
            <a:endParaRPr lang="en-US" sz="1120" dirty="0"/>
          </a:p>
        </p:txBody>
      </p:sp>
      <p:pic>
        <p:nvPicPr>
          <p:cNvPr id="20" name="Image 2" descr="/mnt/data/cdrbj.png"/>
          <p:cNvPicPr>
            <a:picLocks noChangeAspect="1"/>
          </p:cNvPicPr>
          <p:nvPr/>
        </p:nvPicPr>
        <p:blipFill>
          <a:blip r:embed="rId5"/>
          <a:stretch>
            <a:fillRect/>
          </a:stretch>
        </p:blipFill>
        <p:spPr>
          <a:xfrm>
            <a:off x="8982300" y="4536705"/>
            <a:ext cx="2977399" cy="1471756"/>
          </a:xfrm>
          <a:prstGeom prst="rect">
            <a:avLst/>
          </a:prstGeom>
        </p:spPr>
      </p:pic>
      <p:sp>
        <p:nvSpPr>
          <p:cNvPr id="21" name="Text 5">
            <a:extLst>
              <a:ext uri="{FF2B5EF4-FFF2-40B4-BE49-F238E27FC236}">
                <a16:creationId xmlns:a16="http://schemas.microsoft.com/office/drawing/2014/main" id="{330EFD72-972A-6CEF-DEA9-E94FA17EF4E5}"/>
              </a:ext>
            </a:extLst>
          </p:cNvPr>
          <p:cNvSpPr/>
          <p:nvPr/>
        </p:nvSpPr>
        <p:spPr>
          <a:xfrm>
            <a:off x="9103753" y="5944456"/>
            <a:ext cx="2734492" cy="384048"/>
          </a:xfrm>
          <a:prstGeom prst="rect">
            <a:avLst/>
          </a:prstGeom>
          <a:noFill/>
          <a:ln/>
        </p:spPr>
        <p:txBody>
          <a:bodyPr wrap="square" lIns="0" tIns="0" rIns="0" bIns="0" rtlCol="0" anchor="ctr"/>
          <a:lstStyle/>
          <a:p>
            <a:pPr marL="0" indent="0" algn="ctr">
              <a:buNone/>
            </a:pPr>
            <a:r>
              <a:rPr lang="en-US" altLang="zh-TW" sz="950" i="1" dirty="0">
                <a:solidFill>
                  <a:srgbClr val="52667A"/>
                </a:solidFill>
                <a:latin typeface="Aptos" pitchFamily="34" charset="0"/>
                <a:ea typeface="Aptos" pitchFamily="34" charset="-122"/>
                <a:cs typeface="Aptos" pitchFamily="34" charset="-120"/>
              </a:rPr>
              <a:t>E</a:t>
            </a:r>
            <a:r>
              <a:rPr lang="en-US" sz="950" i="1" dirty="0">
                <a:solidFill>
                  <a:srgbClr val="52667A"/>
                </a:solidFill>
                <a:latin typeface="Aptos" pitchFamily="34" charset="0"/>
                <a:ea typeface="Aptos" pitchFamily="34" charset="-122"/>
                <a:cs typeface="Aptos" pitchFamily="34" charset="-120"/>
              </a:rPr>
              <a:t>rror bars(Lower/Upper Bound)</a:t>
            </a:r>
          </a:p>
          <a:p>
            <a:pPr marL="0" indent="0" algn="ctr">
              <a:buNone/>
            </a:pPr>
            <a:r>
              <a:rPr lang="en-US" sz="950" i="1" dirty="0">
                <a:solidFill>
                  <a:srgbClr val="52667A"/>
                </a:solidFill>
                <a:latin typeface="Aptos" pitchFamily="34" charset="0"/>
                <a:ea typeface="Aptos" pitchFamily="34" charset="-122"/>
                <a:cs typeface="Aptos" pitchFamily="34" charset="-120"/>
              </a:rPr>
              <a:t>represent approximate ±2 standard errors.</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TotalTime>
  <Words>190</Words>
  <Application>Microsoft Office PowerPoint</Application>
  <PresentationFormat>寬螢幕</PresentationFormat>
  <Paragraphs>15</Paragraphs>
  <Slides>1</Slides>
  <Notes>1</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vt:i4>
      </vt:variant>
    </vt:vector>
  </HeadingPairs>
  <TitlesOfParts>
    <vt:vector size="5" baseType="lpstr">
      <vt:lpstr>Aptos</vt:lpstr>
      <vt:lpstr>Aptos Display</vt:lpstr>
      <vt:lpstr>Arial</vt:lpstr>
      <vt:lpstr>Office Theme</vt:lpstr>
      <vt:lpstr>PowerPoint 簡報</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 and Diabetes Prevalence — Academic Summary</dc:title>
  <dc:subject>Academic-style One-Page Summary Slide</dc:subject>
  <dc:creator>OpenAI</dc:creator>
  <cp:lastModifiedBy>榮盛 蘇</cp:lastModifiedBy>
  <cp:revision>10</cp:revision>
  <dcterms:created xsi:type="dcterms:W3CDTF">2026-03-16T23:51:11Z</dcterms:created>
  <dcterms:modified xsi:type="dcterms:W3CDTF">2026-03-17T02:23:37Z</dcterms:modified>
</cp:coreProperties>
</file>